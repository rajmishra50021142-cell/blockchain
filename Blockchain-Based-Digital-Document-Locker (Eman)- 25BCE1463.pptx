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4" r:id="rId22"/>
  </p:sldIdLst>
  <p:sldSz cx="12192000" cy="6858000"/>
  <p:notesSz cx="6858000" cy="12192000"/>
  <p:embeddedFontLst>
    <p:embeddedFont>
      <p:font typeface="Inter" panose="020B0604020202020204" charset="0"/>
      <p:regular r:id="rId24"/>
    </p:embeddedFont>
    <p:embeddedFont>
      <p:font typeface="Inter 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006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949E3-0B72-2F7F-3C52-37754044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F328A-F4E5-1125-171F-AF8BF782E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CC308-032B-C39A-BB38-3184CD51FA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9E331E-27A0-5263-A216-4C892B63A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387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6DFD-1319-F2B1-3833-B2686D76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CA75E-CFC2-ADA3-A614-0400FCB5B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367F2E-B5CB-3E6E-3A7F-E29A5ABAF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8EDAA-9B05-D50D-56B4-26CE8A5AAA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4368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63327-1062-B9AC-482D-D9DBA8CE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56F01-C18D-B00E-007B-4E8CDAA9F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73362-6D77-B513-537E-FDD5808C6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538CC5-717C-9777-0D8C-2361BC1CD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65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37D5F-9723-5B49-945B-4C3707999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0D2175-2432-61BE-E0CF-31C6CA43F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F878DA-53ED-3DC3-8462-8E96A31BF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49181-2C41-5A4C-3B4C-4BB7A661E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13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FD974-CCE4-4DD7-5397-A6F42EAF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D9A66-6D50-C721-1333-3E7DD0945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05EC64-1477-EEE9-9087-EDB3F2F41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6DA0A-EC6B-1263-6436-A6AA8ECA30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70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jpe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55327"/>
            <a:ext cx="6296860" cy="3661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Blockchain-Based Digital Document Locker</a:t>
            </a:r>
            <a:endParaRPr lang="en-US" sz="5750" dirty="0"/>
          </a:p>
        </p:txBody>
      </p:sp>
      <p:sp>
        <p:nvSpPr>
          <p:cNvPr id="4" name="Text 1"/>
          <p:cNvSpPr/>
          <p:nvPr/>
        </p:nvSpPr>
        <p:spPr>
          <a:xfrm>
            <a:off x="661475" y="4387552"/>
            <a:ext cx="6296860" cy="520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decentralized, tamper-proof alternative to centralized document storage systems.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5071963"/>
            <a:ext cx="6296860" cy="1905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61475" y="5297884"/>
            <a:ext cx="6296860" cy="274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Contributors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61475" y="5742781"/>
            <a:ext cx="6296860" cy="559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8000"/>
              </a:lnSpc>
              <a:buSzPct val="100000"/>
            </a:pPr>
            <a:endParaRPr lang="en-US" sz="1150" dirty="0"/>
          </a:p>
          <a:p>
            <a:pPr marL="233680" indent="-233680" algn="l">
              <a:lnSpc>
                <a:spcPct val="1180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SHAH EMANUL HAQUE (25BCE1463)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771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DigiLocker?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508919"/>
            <a:ext cx="11478330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DigiLocker is a Government of India platform for storing and sharing official documents digitally.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061666"/>
            <a:ext cx="10868745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 of DigiLocker: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16510"/>
            <a:ext cx="510269" cy="5102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3418086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storage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61475" y="3775571"/>
            <a:ext cx="3495389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Store documents securely online.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8153" y="2716510"/>
            <a:ext cx="510269" cy="5102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48153" y="3418086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signatures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4348153" y="3775571"/>
            <a:ext cx="3495389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Sign documents electronically.</a:t>
            </a:r>
            <a:endParaRPr lang="en-US" sz="16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4831" y="2716510"/>
            <a:ext cx="510269" cy="5102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34831" y="3418086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Government integration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8034831" y="3775571"/>
            <a:ext cx="3495389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 with official agencies.</a:t>
            </a:r>
            <a:endParaRPr lang="en-US" sz="16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404916"/>
            <a:ext cx="510269" cy="51028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1475" y="5106491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 sharing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661475" y="5463977"/>
            <a:ext cx="3495389" cy="646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Share verified documents instantly.</a:t>
            </a:r>
            <a:endParaRPr lang="en-US" sz="16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48153" y="4404916"/>
            <a:ext cx="510269" cy="51028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48153" y="5106491"/>
            <a:ext cx="349538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Paperless</a:t>
            </a:r>
            <a:endParaRPr lang="en-US" sz="1650" dirty="0"/>
          </a:p>
        </p:txBody>
      </p:sp>
      <p:sp>
        <p:nvSpPr>
          <p:cNvPr id="19" name="Text 12"/>
          <p:cNvSpPr/>
          <p:nvPr/>
        </p:nvSpPr>
        <p:spPr>
          <a:xfrm>
            <a:off x="4348153" y="5463977"/>
            <a:ext cx="3495389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 physical paperwork.</a:t>
            </a:r>
            <a:endParaRPr lang="en-US" sz="16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DC98DE1-1DD3-6522-5661-1597D22D0D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34824" y="6540063"/>
            <a:ext cx="1190791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656"/>
            <a:ext cx="10868745" cy="3659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DigiLocker - Advantages &amp; Limitations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661475" y="1098848"/>
            <a:ext cx="5291600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ADVANTAGES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99877"/>
            <a:ext cx="351226" cy="3512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841798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Legally recognized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097187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Official and trusted.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93851"/>
            <a:ext cx="351226" cy="3512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1475" y="2835771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Less paperwork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61475" y="3091160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Faster, simpler workflows.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87824"/>
            <a:ext cx="351226" cy="3512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829745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anywhere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61475" y="4085134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 it on any device.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381798"/>
            <a:ext cx="351226" cy="3512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475" y="4823718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Govt. database sync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61475" y="5079107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Easy document availability.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375771"/>
            <a:ext cx="351226" cy="35123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817691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Cost-effective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661475" y="6073080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Saves printing and storage costs.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6244970" y="1098848"/>
            <a:ext cx="5291600" cy="219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LIMITATIONS</a:t>
            </a:r>
            <a:endParaRPr lang="en-US" sz="13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44970" y="1399877"/>
            <a:ext cx="351226" cy="35123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44970" y="1841798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point of failure</a:t>
            </a:r>
            <a:endParaRPr lang="en-US" sz="1150" dirty="0"/>
          </a:p>
        </p:txBody>
      </p:sp>
      <p:sp>
        <p:nvSpPr>
          <p:cNvPr id="22" name="Text 14"/>
          <p:cNvSpPr/>
          <p:nvPr/>
        </p:nvSpPr>
        <p:spPr>
          <a:xfrm>
            <a:off x="6244970" y="2097187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Centralized architecture.</a:t>
            </a:r>
            <a:endParaRPr lang="en-US" sz="9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4970" y="2393851"/>
            <a:ext cx="351226" cy="35123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244970" y="2835771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risks</a:t>
            </a:r>
            <a:endParaRPr lang="en-US" sz="1150" dirty="0"/>
          </a:p>
        </p:txBody>
      </p:sp>
      <p:sp>
        <p:nvSpPr>
          <p:cNvPr id="25" name="Text 16"/>
          <p:cNvSpPr/>
          <p:nvPr/>
        </p:nvSpPr>
        <p:spPr>
          <a:xfrm>
            <a:off x="6244970" y="3091160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3.68 crore accounts risk.</a:t>
            </a:r>
            <a:endParaRPr lang="en-US" sz="9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44970" y="3387824"/>
            <a:ext cx="351226" cy="35123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244970" y="3829745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Privacy concerns</a:t>
            </a:r>
            <a:endParaRPr lang="en-US" sz="1150" dirty="0"/>
          </a:p>
        </p:txBody>
      </p:sp>
      <p:sp>
        <p:nvSpPr>
          <p:cNvPr id="28" name="Text 18"/>
          <p:cNvSpPr/>
          <p:nvPr/>
        </p:nvSpPr>
        <p:spPr>
          <a:xfrm>
            <a:off x="6244970" y="4085134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Aadhar dependency.</a:t>
            </a:r>
            <a:endParaRPr lang="en-US" sz="9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44970" y="4381798"/>
            <a:ext cx="351226" cy="351234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244970" y="4823718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Limited transparency</a:t>
            </a:r>
            <a:endParaRPr lang="en-US" sz="1150" dirty="0"/>
          </a:p>
        </p:txBody>
      </p:sp>
      <p:sp>
        <p:nvSpPr>
          <p:cNvPr id="31" name="Text 20"/>
          <p:cNvSpPr/>
          <p:nvPr/>
        </p:nvSpPr>
        <p:spPr>
          <a:xfrm>
            <a:off x="6244970" y="5079107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data sovereignty.</a:t>
            </a:r>
            <a:endParaRPr lang="en-US" sz="9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44970" y="5375771"/>
            <a:ext cx="351226" cy="351234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6244970" y="5817691"/>
            <a:ext cx="529160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Forgery risk</a:t>
            </a:r>
            <a:endParaRPr lang="en-US" sz="1150" dirty="0"/>
          </a:p>
        </p:txBody>
      </p:sp>
      <p:sp>
        <p:nvSpPr>
          <p:cNvPr id="34" name="Text 22"/>
          <p:cNvSpPr/>
          <p:nvPr/>
        </p:nvSpPr>
        <p:spPr>
          <a:xfrm>
            <a:off x="6244970" y="6073080"/>
            <a:ext cx="5291600" cy="151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Documents can still be tampered with.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17A1ABD-BC83-183E-A367-1D749133D4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34824" y="6540063"/>
            <a:ext cx="1190791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388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Blockchain Technology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40954"/>
            <a:ext cx="1086874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a shared digital ledger spread across many computers. It strengthens document security by improving trust, traceability, and resistance to tampering.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61475" y="2257028"/>
            <a:ext cx="10868745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Characteristics &amp; Key Features for Document Security: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61475" y="2849563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8843" y="2883247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36036" y="2911277"/>
            <a:ext cx="4753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Decentralized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202406" y="2849563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69774" y="2883247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776967" y="2911277"/>
            <a:ext cx="47532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661475" y="3594695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28843" y="3628380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6036" y="3656409"/>
            <a:ext cx="4753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Transparent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202406" y="3594695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9774" y="3628380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776967" y="3656409"/>
            <a:ext cx="47532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661475" y="4339828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28843" y="4373513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36036" y="4401542"/>
            <a:ext cx="4753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Consensus-based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6202406" y="4339828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269774" y="4373513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776967" y="4401542"/>
            <a:ext cx="47532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Hashing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661475" y="5084961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28843" y="511864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236036" y="5146675"/>
            <a:ext cx="4753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Distributed storage</a:t>
            </a:r>
            <a:endParaRPr lang="en-US" sz="1750" dirty="0"/>
          </a:p>
        </p:txBody>
      </p:sp>
      <p:sp>
        <p:nvSpPr>
          <p:cNvPr id="26" name="Shape 24"/>
          <p:cNvSpPr/>
          <p:nvPr/>
        </p:nvSpPr>
        <p:spPr>
          <a:xfrm>
            <a:off x="6202406" y="5084961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69774" y="5118646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6776967" y="5146675"/>
            <a:ext cx="47532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ledger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661475" y="5830094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728843" y="586377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1236036" y="5891808"/>
            <a:ext cx="4753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 trail</a:t>
            </a:r>
            <a:endParaRPr lang="en-US" sz="1750" dirty="0"/>
          </a:p>
        </p:txBody>
      </p:sp>
      <p:sp>
        <p:nvSpPr>
          <p:cNvPr id="32" name="Shape 30"/>
          <p:cNvSpPr/>
          <p:nvPr/>
        </p:nvSpPr>
        <p:spPr>
          <a:xfrm>
            <a:off x="6202406" y="5830094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69774" y="586377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6776967" y="5891808"/>
            <a:ext cx="47532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Digital signatures</a:t>
            </a:r>
            <a:endParaRPr lang="en-US" sz="175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06F1F5D-5BEF-C638-E831-8BF728EE2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824" y="6540063"/>
            <a:ext cx="1190791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052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 Features - Tamper-Proof, Immutable &amp; Secure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35288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644007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TAMPER-PROOF MECHANISM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347964"/>
            <a:ext cx="346542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Hash detection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 integrity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Consensus protection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35288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64400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IMMUTABILITY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052689"/>
            <a:ext cx="346542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records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Persistent timestamps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 audit trail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4794" y="293528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644007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FEATURES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052689"/>
            <a:ext cx="3465426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encryption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signatures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Decentralized protection</a:t>
            </a:r>
            <a:endParaRPr lang="en-US" sz="14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0F1A13C-BA03-5C0A-92CF-57F3E13366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34824" y="6540063"/>
            <a:ext cx="1190791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9218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Statement: DigiLocker Vulnerabilities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45966"/>
            <a:ext cx="31205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Vulnerability Pipeline</a:t>
            </a:r>
            <a:endParaRPr lang="en-US" sz="1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23" y="3153866"/>
            <a:ext cx="2373154" cy="12602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261277" y="4122913"/>
            <a:ext cx="553295" cy="6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dependency</a:t>
            </a:r>
            <a:endParaRPr lang="en-US" sz="400" dirty="0"/>
          </a:p>
        </p:txBody>
      </p:sp>
      <p:sp>
        <p:nvSpPr>
          <p:cNvPr id="7" name="Text 3"/>
          <p:cNvSpPr/>
          <p:nvPr/>
        </p:nvSpPr>
        <p:spPr>
          <a:xfrm>
            <a:off x="2261277" y="4211620"/>
            <a:ext cx="898717" cy="5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Reliance on external systems.</a:t>
            </a:r>
            <a:endParaRPr lang="en-US" sz="300" dirty="0"/>
          </a:p>
        </p:txBody>
      </p:sp>
      <p:sp>
        <p:nvSpPr>
          <p:cNvPr id="8" name="Text 4"/>
          <p:cNvSpPr/>
          <p:nvPr/>
        </p:nvSpPr>
        <p:spPr>
          <a:xfrm>
            <a:off x="2452807" y="3855255"/>
            <a:ext cx="552490" cy="6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Forgery risk</a:t>
            </a:r>
            <a:endParaRPr lang="en-US" sz="400" dirty="0"/>
          </a:p>
        </p:txBody>
      </p:sp>
      <p:sp>
        <p:nvSpPr>
          <p:cNvPr id="9" name="Text 5"/>
          <p:cNvSpPr/>
          <p:nvPr/>
        </p:nvSpPr>
        <p:spPr>
          <a:xfrm>
            <a:off x="2452807" y="3943963"/>
            <a:ext cx="898717" cy="5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Possibility of document falsification.</a:t>
            </a:r>
            <a:endParaRPr lang="en-US" sz="300" dirty="0"/>
          </a:p>
        </p:txBody>
      </p:sp>
      <p:sp>
        <p:nvSpPr>
          <p:cNvPr id="10" name="Text 6"/>
          <p:cNvSpPr/>
          <p:nvPr/>
        </p:nvSpPr>
        <p:spPr>
          <a:xfrm>
            <a:off x="2433163" y="3526209"/>
            <a:ext cx="552490" cy="6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Breach risk</a:t>
            </a:r>
            <a:endParaRPr lang="en-US" sz="400" dirty="0"/>
          </a:p>
        </p:txBody>
      </p:sp>
      <p:sp>
        <p:nvSpPr>
          <p:cNvPr id="11" name="Text 7"/>
          <p:cNvSpPr/>
          <p:nvPr/>
        </p:nvSpPr>
        <p:spPr>
          <a:xfrm>
            <a:off x="2433163" y="3614916"/>
            <a:ext cx="898717" cy="5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Vulnerability to unauthorized access.</a:t>
            </a:r>
            <a:endParaRPr lang="en-US" sz="300" dirty="0"/>
          </a:p>
        </p:txBody>
      </p:sp>
      <p:sp>
        <p:nvSpPr>
          <p:cNvPr id="12" name="Text 8"/>
          <p:cNvSpPr/>
          <p:nvPr/>
        </p:nvSpPr>
        <p:spPr>
          <a:xfrm>
            <a:off x="2221989" y="3229084"/>
            <a:ext cx="552490" cy="69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Centralized storage</a:t>
            </a:r>
            <a:endParaRPr lang="en-US" sz="400" dirty="0"/>
          </a:p>
        </p:txBody>
      </p:sp>
      <p:sp>
        <p:nvSpPr>
          <p:cNvPr id="13" name="Text 9"/>
          <p:cNvSpPr/>
          <p:nvPr/>
        </p:nvSpPr>
        <p:spPr>
          <a:xfrm>
            <a:off x="2221989" y="3317792"/>
            <a:ext cx="898717" cy="55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Potential single point of failure.</a:t>
            </a:r>
            <a:endParaRPr lang="en-US" sz="300" dirty="0"/>
          </a:p>
        </p:txBody>
      </p:sp>
      <p:sp>
        <p:nvSpPr>
          <p:cNvPr id="14" name="Text 10"/>
          <p:cNvSpPr/>
          <p:nvPr/>
        </p:nvSpPr>
        <p:spPr>
          <a:xfrm>
            <a:off x="4249532" y="2645966"/>
            <a:ext cx="271505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Storage &amp; Verification Deficiencies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249532" y="3720802"/>
            <a:ext cx="2715053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Point of Failure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 Tampering Risk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Government Control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Slow Verification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Immutable Proof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99889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Solution: Blockchain-Based Digital Document Locker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908770"/>
            <a:ext cx="6906444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secure decentralized document locker.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661475" y="2410718"/>
            <a:ext cx="6296860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Solution Features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16734"/>
            <a:ext cx="3080169" cy="9894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7354" y="3096419"/>
            <a:ext cx="264461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Decentralized Architecture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917354" y="3429298"/>
            <a:ext cx="26446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Distributed storage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165" y="2916734"/>
            <a:ext cx="3080169" cy="9894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34044" y="3096419"/>
            <a:ext cx="264461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Cryptographic Verification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4134044" y="3429298"/>
            <a:ext cx="26446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SHA-256 hashing</a:t>
            </a:r>
            <a:endParaRPr lang="en-US" sz="15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042668"/>
            <a:ext cx="3080169" cy="9894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7354" y="4222353"/>
            <a:ext cx="264461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Records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17354" y="4555232"/>
            <a:ext cx="26446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Permanent proof</a:t>
            </a:r>
            <a:endParaRPr lang="en-US" sz="15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165" y="4042668"/>
            <a:ext cx="3080169" cy="98940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134044" y="4222353"/>
            <a:ext cx="264461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Ownership</a:t>
            </a:r>
            <a:endParaRPr lang="en-US" sz="1550" dirty="0"/>
          </a:p>
        </p:txBody>
      </p:sp>
      <p:sp>
        <p:nvSpPr>
          <p:cNvPr id="17" name="Text 10"/>
          <p:cNvSpPr/>
          <p:nvPr/>
        </p:nvSpPr>
        <p:spPr>
          <a:xfrm>
            <a:off x="4134044" y="4555232"/>
            <a:ext cx="26446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Private keys</a:t>
            </a:r>
            <a:endParaRPr lang="en-US" sz="15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68602"/>
            <a:ext cx="3080169" cy="98940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17354" y="5348288"/>
            <a:ext cx="264461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Verification</a:t>
            </a:r>
            <a:endParaRPr lang="en-US" sz="1550" dirty="0"/>
          </a:p>
        </p:txBody>
      </p:sp>
      <p:sp>
        <p:nvSpPr>
          <p:cNvPr id="20" name="Text 12"/>
          <p:cNvSpPr/>
          <p:nvPr/>
        </p:nvSpPr>
        <p:spPr>
          <a:xfrm>
            <a:off x="917354" y="5681166"/>
            <a:ext cx="26446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checks</a:t>
            </a:r>
            <a:endParaRPr lang="en-US" sz="15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8165" y="5168602"/>
            <a:ext cx="3080169" cy="98940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4134044" y="5348288"/>
            <a:ext cx="264461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Privacy-First</a:t>
            </a:r>
            <a:endParaRPr lang="en-US" sz="1550" dirty="0"/>
          </a:p>
        </p:txBody>
      </p:sp>
      <p:sp>
        <p:nvSpPr>
          <p:cNvPr id="23" name="Text 14"/>
          <p:cNvSpPr/>
          <p:nvPr/>
        </p:nvSpPr>
        <p:spPr>
          <a:xfrm>
            <a:off x="4134044" y="5681166"/>
            <a:ext cx="264461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Client-side encryption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45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 vs Traditional DigiLocker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48619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concise comparison of security, control, and efficiency.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239169"/>
            <a:ext cx="10868745" cy="3844330"/>
          </a:xfrm>
          <a:prstGeom prst="roundRect">
            <a:avLst>
              <a:gd name="adj" fmla="val 206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2790627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3338909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388719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443547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498375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1475" y="553204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250425" y="2239169"/>
            <a:ext cx="11814" cy="38443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941469" y="2239169"/>
            <a:ext cx="11814" cy="384433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7030" y="2365276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ASPECT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42607" y="2365276"/>
            <a:ext cx="39162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 DIGILOCKER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33650" y="2365276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BLOCKCHAIN-BASED SOLUTION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7030" y="2913559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42607" y="2913559"/>
            <a:ext cx="39162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Centralized server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33650" y="2913559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Distributed network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7030" y="3461841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Control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42607" y="3461841"/>
            <a:ext cx="39162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Government-managed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33650" y="3461841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User-controlled keys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7030" y="4010124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Tamper Resistance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42607" y="4010124"/>
            <a:ext cx="39162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Vulnerable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133650" y="4010124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Hash-protected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7030" y="4558407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Verification Speed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442607" y="4558407"/>
            <a:ext cx="39162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Hours to days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133650" y="4558407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Milliseconds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57030" y="5106690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442607" y="5106690"/>
            <a:ext cx="39162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Editable logs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133650" y="5106690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ledger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57030" y="5654973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Point of Failure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4442607" y="5654973"/>
            <a:ext cx="391626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133650" y="5654973"/>
            <a:ext cx="381079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</a:t>
            </a:r>
            <a:endParaRPr lang="en-US" sz="14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91D496B-7B8E-7D54-8E41-3F011D9C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824" y="6540063"/>
            <a:ext cx="1190791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60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977231"/>
            <a:ext cx="3496877" cy="18901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50482" y="2355255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Presentation Layer (Frontend)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059212"/>
            <a:ext cx="3118863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N.js + Tailwind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 wallet access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1693664"/>
            <a:ext cx="3496877" cy="18901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36366" y="2071687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Application Layer (Backend)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36366" y="2775645"/>
            <a:ext cx="3118863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Node.js API gateway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AES-256-GCM encryption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1410196"/>
            <a:ext cx="3496877" cy="18901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2251" y="1788220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 Layer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2251" y="2196902"/>
            <a:ext cx="3118863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Ethereum smart contracts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audit log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675188"/>
            <a:ext cx="3496877" cy="18901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0482" y="5053211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Decentralized Storage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5461893"/>
            <a:ext cx="3118863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IPFS cluster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Encrypted replication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347359" y="4391620"/>
            <a:ext cx="3496877" cy="189012"/>
          </a:xfrm>
          <a:prstGeom prst="roundRect">
            <a:avLst>
              <a:gd name="adj" fmla="val 4200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36366" y="4769644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Verification &amp; Audit Layer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4536366" y="5178326"/>
            <a:ext cx="3118863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 checks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Revocation checks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5FDAE4-6366-5FD1-46B5-E80E26358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824" y="6540063"/>
            <a:ext cx="1190791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897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Layer Breakdown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40369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Layer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3812381"/>
            <a:ext cx="3465426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+ Ethers.js. MetaMask ready.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36075" y="3163888"/>
            <a:ext cx="3516225" cy="508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363135" y="340369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Contract Layer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4363135" y="3812381"/>
            <a:ext cx="3465426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Solidity contracts on Ethereum.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4337735" y="3163888"/>
            <a:ext cx="3516225" cy="508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064794" y="340369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 Layer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064794" y="3812381"/>
            <a:ext cx="3465426" cy="755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files pinned on IPFS.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8039395" y="3163888"/>
            <a:ext cx="3516225" cy="5080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1EE382-4E3C-B720-FCB6-ADF667CF1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3570" y="6573009"/>
            <a:ext cx="1098430" cy="2034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9877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Working Process &amp; Execution Workflow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1015702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1: Upload, Encryption &amp; Storage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365746"/>
            <a:ext cx="614248" cy="7370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5493" y="1488579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Authentication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355493" y="1728391"/>
            <a:ext cx="560284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 login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2102842"/>
            <a:ext cx="614248" cy="7370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55493" y="2225675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Client-Side Encryption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355493" y="2465487"/>
            <a:ext cx="560284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AES-256 encryption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2839938"/>
            <a:ext cx="614248" cy="7370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55493" y="2962771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IPFS Pinning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1355493" y="3202583"/>
            <a:ext cx="560284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IPFS pinning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3577034"/>
            <a:ext cx="614248" cy="73709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55493" y="3699867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Contract Registry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1355493" y="3939679"/>
            <a:ext cx="560284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On-chain storage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61475" y="4433887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2: Retrieval &amp; Verification</a:t>
            </a:r>
            <a:endParaRPr lang="en-US" sz="14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5" y="4783931"/>
            <a:ext cx="614248" cy="73709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355493" y="4906764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Authorized Access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1355493" y="5146576"/>
            <a:ext cx="560284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request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5521027"/>
            <a:ext cx="614248" cy="73709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55493" y="5643860"/>
            <a:ext cx="560284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Zero-Knowledge Hash Verification</a:t>
            </a:r>
            <a:endParaRPr lang="en-US" sz="1200" dirty="0"/>
          </a:p>
        </p:txBody>
      </p:sp>
      <p:sp>
        <p:nvSpPr>
          <p:cNvPr id="23" name="Text 14"/>
          <p:cNvSpPr/>
          <p:nvPr/>
        </p:nvSpPr>
        <p:spPr>
          <a:xfrm>
            <a:off x="1355493" y="5883672"/>
            <a:ext cx="5602842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 verification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376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Multi-Layer Security Model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8244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blockchain document locker protects confidentiality, integrity, and availability across multiple security layers.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097484"/>
            <a:ext cx="10868745" cy="4146748"/>
          </a:xfrm>
          <a:prstGeom prst="roundRect">
            <a:avLst>
              <a:gd name="adj" fmla="val 191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264894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319722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3745508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429379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4842073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61475" y="5692775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839074" y="2097484"/>
            <a:ext cx="11814" cy="414674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095848" y="2097484"/>
            <a:ext cx="11814" cy="4146748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6931" y="2223591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Layer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31255" y="2223591"/>
            <a:ext cx="348199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288029" y="2223591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Function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6931" y="2771874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At Rest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31255" y="2771874"/>
            <a:ext cx="348199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AES-256-GCM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288029" y="2771874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encryption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6931" y="3320157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Integrity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031255" y="3320157"/>
            <a:ext cx="348199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SHA-256 Hashing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288029" y="332015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Change detection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56931" y="3868440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Control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031255" y="3868440"/>
            <a:ext cx="348199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Contracts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88029" y="3868440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 management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6931" y="4416723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Audit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031255" y="4416723"/>
            <a:ext cx="348199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Ethereum Blockchain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288029" y="4416723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Permanent records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56931" y="4965005"/>
            <a:ext cx="178996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Identity Verification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3031255" y="4965005"/>
            <a:ext cx="348199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Web3 Wallet Signatures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288029" y="4965005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Cryptographic authentication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56931" y="5815707"/>
            <a:ext cx="239954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Tolerance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3031255" y="5815707"/>
            <a:ext cx="348199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IPFS Network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288029" y="5815707"/>
            <a:ext cx="565641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Distributed storage</a:t>
            </a:r>
            <a:endParaRPr lang="en-US" sz="145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76DA93C-F7E8-46CE-534E-333E2368F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824" y="6540063"/>
            <a:ext cx="1190791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606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Comparative Analysis &amp; System Advantages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661475" y="1480443"/>
            <a:ext cx="10868745" cy="3060204"/>
          </a:xfrm>
          <a:prstGeom prst="roundRect">
            <a:avLst>
              <a:gd name="adj" fmla="val 207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61475" y="1919883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61475" y="2356148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61475" y="2792413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61475" y="3228677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1475" y="3664942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61475" y="4101207"/>
            <a:ext cx="10868745" cy="94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250425" y="1480443"/>
            <a:ext cx="9451" cy="30602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7832827" y="1480443"/>
            <a:ext cx="9451" cy="306020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9229" y="1565672"/>
            <a:ext cx="388640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Metrics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404805" y="1565672"/>
            <a:ext cx="38832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Traditional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987207" y="1565672"/>
            <a:ext cx="39950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19229" y="2001937"/>
            <a:ext cx="388640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Ownership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404805" y="2001937"/>
            <a:ext cx="38832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Centralized control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987207" y="2001937"/>
            <a:ext cx="39950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User-owned keys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19229" y="2438202"/>
            <a:ext cx="388640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Tamper Resistance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404805" y="2438202"/>
            <a:ext cx="38832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Modifiable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987207" y="2438202"/>
            <a:ext cx="39950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by consensus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9229" y="2874466"/>
            <a:ext cx="388640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Uptime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404805" y="2874466"/>
            <a:ext cx="38832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Single-point failure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987207" y="2874466"/>
            <a:ext cx="39950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Decentralized resilience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19229" y="3310731"/>
            <a:ext cx="388640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Verification Speed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404805" y="3310731"/>
            <a:ext cx="38832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Hours or days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987207" y="3310731"/>
            <a:ext cx="39950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Under 2 seconds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19229" y="3746996"/>
            <a:ext cx="388640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Audit Trail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404805" y="3746996"/>
            <a:ext cx="38832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Editable logs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987207" y="3746996"/>
            <a:ext cx="39950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ledger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19229" y="4183261"/>
            <a:ext cx="388640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Fraud Prevention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4404805" y="4183261"/>
            <a:ext cx="3883226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Duplicate-prone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987207" y="4183261"/>
            <a:ext cx="3995042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Hash-verified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61475" y="4722019"/>
            <a:ext cx="10868745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System Benefits</a:t>
            </a:r>
            <a:endParaRPr lang="en-US" sz="1750" dirty="0"/>
          </a:p>
        </p:txBody>
      </p:sp>
      <p:sp>
        <p:nvSpPr>
          <p:cNvPr id="34" name="Shape 32"/>
          <p:cNvSpPr/>
          <p:nvPr/>
        </p:nvSpPr>
        <p:spPr>
          <a:xfrm>
            <a:off x="661475" y="5186859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18127" y="521518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36" name="Text 34"/>
          <p:cNvSpPr/>
          <p:nvPr/>
        </p:nvSpPr>
        <p:spPr>
          <a:xfrm>
            <a:off x="1122632" y="5238750"/>
            <a:ext cx="306092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Fake Credentials Blocked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122632" y="5547519"/>
            <a:ext cx="3060921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Cryptographic checks stop forgeries.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4334759" y="5186859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391411" y="521518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4795916" y="5238750"/>
            <a:ext cx="306092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Verification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4795916" y="5547519"/>
            <a:ext cx="3060921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manual delays.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8008043" y="5186859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064695" y="5215186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8469200" y="5238750"/>
            <a:ext cx="306102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Privacy First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8469200" y="5547519"/>
            <a:ext cx="306102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Users control access.</a:t>
            </a:r>
            <a:endParaRPr lang="en-US" sz="14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C0300715-CAFD-B372-912D-9D5FD86B4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824" y="6540063"/>
            <a:ext cx="1190791" cy="24768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12874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 &amp; Roadmap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1165225"/>
            <a:ext cx="6906444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roadmap highlights the next key platform milestones.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545755"/>
            <a:ext cx="6296860" cy="19050"/>
          </a:xfrm>
          <a:prstGeom prst="roundRect">
            <a:avLst>
              <a:gd name="adj" fmla="val 29171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1876576" y="2281138"/>
            <a:ext cx="19050" cy="264616"/>
          </a:xfrm>
          <a:prstGeom prst="roundRect">
            <a:avLst>
              <a:gd name="adj" fmla="val 29171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1836493" y="2496145"/>
            <a:ext cx="99216" cy="99219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93730" y="1494334"/>
            <a:ext cx="218474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Q3: Milestone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3730" y="1756569"/>
            <a:ext cx="2184742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app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FIDO2 auth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59046" y="2545755"/>
            <a:ext cx="19050" cy="264616"/>
          </a:xfrm>
          <a:prstGeom prst="roundRect">
            <a:avLst>
              <a:gd name="adj" fmla="val 29171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118963" y="2496145"/>
            <a:ext cx="99216" cy="99219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2076200" y="2942630"/>
            <a:ext cx="218484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Q4: Milestone 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076200" y="3204865"/>
            <a:ext cx="2184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ZK-SNARKs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441515" y="2281138"/>
            <a:ext cx="19050" cy="264616"/>
          </a:xfrm>
          <a:prstGeom prst="roundRect">
            <a:avLst>
              <a:gd name="adj" fmla="val 29171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401432" y="2496145"/>
            <a:ext cx="99216" cy="99219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358669" y="1494334"/>
            <a:ext cx="218484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Q1: Milestone 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58669" y="1756569"/>
            <a:ext cx="2184841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Institutional API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24084" y="2545755"/>
            <a:ext cx="19050" cy="264616"/>
          </a:xfrm>
          <a:prstGeom prst="roundRect">
            <a:avLst>
              <a:gd name="adj" fmla="val 291714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684001" y="2496145"/>
            <a:ext cx="99216" cy="99219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4641238" y="2942630"/>
            <a:ext cx="218484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Q2: Milestone 4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641238" y="3204865"/>
            <a:ext cx="2184841" cy="39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Cross-chain support</a:t>
            </a:r>
            <a:endParaRPr lang="en-US" sz="1000" dirty="0"/>
          </a:p>
          <a:p>
            <a:pPr marL="203200" indent="-203200" algn="l">
              <a:lnSpc>
                <a:spcPct val="113000"/>
              </a:lnSpc>
              <a:buSzPct val="100000"/>
              <a:buChar char="•"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fraud detection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61475" y="3736082"/>
            <a:ext cx="629686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Detailed Scope Objectives</a:t>
            </a:r>
            <a:endParaRPr lang="en-US" sz="1550" dirty="0"/>
          </a:p>
        </p:txBody>
      </p:sp>
      <p:sp>
        <p:nvSpPr>
          <p:cNvPr id="23" name="Shape 20"/>
          <p:cNvSpPr/>
          <p:nvPr/>
        </p:nvSpPr>
        <p:spPr>
          <a:xfrm>
            <a:off x="661475" y="4123035"/>
            <a:ext cx="3102096" cy="101471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812780" y="4274344"/>
            <a:ext cx="279948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ZK Privacy Layer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12780" y="4536579"/>
            <a:ext cx="2799486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Prove validity without exposing data.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3856139" y="4123035"/>
            <a:ext cx="3102195" cy="101471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007444" y="4274344"/>
            <a:ext cx="279958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007444" y="4536579"/>
            <a:ext cx="2799585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 integration for institutions.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61475" y="5230316"/>
            <a:ext cx="3102096" cy="101471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12780" y="5381625"/>
            <a:ext cx="279948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Cross-Chain Interoperability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812780" y="5643860"/>
            <a:ext cx="2799486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Expand to Polygon and Arbitrum.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3856139" y="5230316"/>
            <a:ext cx="3102195" cy="1014710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007444" y="5381625"/>
            <a:ext cx="279958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Verification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4007444" y="5643860"/>
            <a:ext cx="2799585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anomalies before registration.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91145"/>
            <a:ext cx="629686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Summary &amp; Project Outcome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475" y="1006971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Verification Outcome Flow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718" y="1357015"/>
            <a:ext cx="2940274" cy="264050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18874" y="1880394"/>
            <a:ext cx="1095929" cy="14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Upload Certificate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3154651" y="3333682"/>
            <a:ext cx="1061445" cy="141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Verify Hash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096779" y="2034905"/>
            <a:ext cx="1061445" cy="282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Employer Validation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661475" y="4087316"/>
            <a:ext cx="6906444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Fast, secure credential validation.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1475" y="4409777"/>
            <a:ext cx="6296860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Project Outcomes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61475" y="4759821"/>
            <a:ext cx="3108545" cy="713581"/>
          </a:xfrm>
          <a:prstGeom prst="roundRect">
            <a:avLst>
              <a:gd name="adj" fmla="val 723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97004" y="4895354"/>
            <a:ext cx="283748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Tamper-Proof Vault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97004" y="5135166"/>
            <a:ext cx="2837486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Immutable document storage.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849790" y="4759821"/>
            <a:ext cx="3108545" cy="713581"/>
          </a:xfrm>
          <a:prstGeom prst="roundRect">
            <a:avLst>
              <a:gd name="adj" fmla="val 723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3985319" y="4895354"/>
            <a:ext cx="283748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Zero-Trust Verification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985319" y="5135166"/>
            <a:ext cx="2837486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central intermediaries.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61475" y="5553174"/>
            <a:ext cx="6296860" cy="713581"/>
          </a:xfrm>
          <a:prstGeom prst="roundRect">
            <a:avLst>
              <a:gd name="adj" fmla="val 723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797004" y="5688707"/>
            <a:ext cx="6025801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Authenticity Proof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797004" y="5928519"/>
            <a:ext cx="6025801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Instantly flags fake credentials.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78630" y="475529"/>
            <a:ext cx="6000798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700" b="1" u="sng" dirty="0"/>
              <a:t>Scope</a:t>
            </a:r>
            <a:r>
              <a:rPr lang="en-IN" sz="3700" u="sng" dirty="0"/>
              <a:t> </a:t>
            </a:r>
            <a:r>
              <a:rPr lang="en-IN" sz="3700" b="1" u="sng" dirty="0"/>
              <a:t>of</a:t>
            </a:r>
            <a:r>
              <a:rPr lang="en-IN" sz="3700" u="sng" dirty="0"/>
              <a:t> </a:t>
            </a:r>
            <a:r>
              <a:rPr lang="en-IN" sz="3700" b="1" u="sng" dirty="0"/>
              <a:t>the</a:t>
            </a:r>
            <a:r>
              <a:rPr lang="en-IN" sz="3700" u="sng" dirty="0"/>
              <a:t> </a:t>
            </a:r>
            <a:r>
              <a:rPr lang="en-IN" sz="3700" b="1" u="sng" dirty="0"/>
              <a:t>Project</a:t>
            </a:r>
            <a:endParaRPr lang="en-US" sz="3700" b="1" u="sng" dirty="0"/>
          </a:p>
        </p:txBody>
      </p:sp>
      <p:sp>
        <p:nvSpPr>
          <p:cNvPr id="4" name="Text 1"/>
          <p:cNvSpPr/>
          <p:nvPr/>
        </p:nvSpPr>
        <p:spPr>
          <a:xfrm>
            <a:off x="330890" y="1092298"/>
            <a:ext cx="6296860" cy="519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395158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61475" y="316676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714605" y="36184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086617" y="3637955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86617" y="4169470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4605" y="468148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5" name="Text 32"/>
          <p:cNvSpPr/>
          <p:nvPr/>
        </p:nvSpPr>
        <p:spPr>
          <a:xfrm>
            <a:off x="661475" y="6089948"/>
            <a:ext cx="4974215" cy="5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>
              <a:lnSpc>
                <a:spcPct val="117000"/>
              </a:lnSpc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.</a:t>
            </a:r>
            <a:endParaRPr lang="en-US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31C83D-43F3-A49A-7456-AF0AC4CEC0D3}"/>
              </a:ext>
            </a:extLst>
          </p:cNvPr>
          <p:cNvSpPr txBox="1"/>
          <p:nvPr/>
        </p:nvSpPr>
        <p:spPr>
          <a:xfrm>
            <a:off x="507520" y="1155087"/>
            <a:ext cx="5943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Secure storage of digital documents using IPFS.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Blockchain-based document verification.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Smart contract-enabled access control.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Decentralized Identity (DID) based authentication.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Tamper-proof audit trail for all document transactions.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Secure document sharing among users, institutions, and organizations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60B56-2230-74BD-0C2C-098D8953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89AA523-5573-5832-F69E-2A92D6274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E9D9A54-0A49-0203-B826-ED3EEDEC5883}"/>
              </a:ext>
            </a:extLst>
          </p:cNvPr>
          <p:cNvSpPr/>
          <p:nvPr/>
        </p:nvSpPr>
        <p:spPr>
          <a:xfrm>
            <a:off x="661475" y="569516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72C08C6-F25B-9BF6-3013-7EFB4DB380A4}"/>
              </a:ext>
            </a:extLst>
          </p:cNvPr>
          <p:cNvSpPr/>
          <p:nvPr/>
        </p:nvSpPr>
        <p:spPr>
          <a:xfrm>
            <a:off x="2070397" y="423118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4000" u="sng" dirty="0"/>
              <a:t>Literature Survey</a:t>
            </a:r>
            <a:endParaRPr lang="en-US" sz="4000" u="sng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A52E592-2829-50E9-8FE6-8492D0AAF0CA}"/>
              </a:ext>
            </a:extLst>
          </p:cNvPr>
          <p:cNvSpPr/>
          <p:nvPr/>
        </p:nvSpPr>
        <p:spPr>
          <a:xfrm>
            <a:off x="80950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DFADB43-2BE9-8F9D-4D78-2EC7D0FFA792}"/>
              </a:ext>
            </a:extLst>
          </p:cNvPr>
          <p:cNvSpPr/>
          <p:nvPr/>
        </p:nvSpPr>
        <p:spPr>
          <a:xfrm>
            <a:off x="395158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57624C6-9C63-301B-6151-BA39858A0E64}"/>
              </a:ext>
            </a:extLst>
          </p:cNvPr>
          <p:cNvSpPr/>
          <p:nvPr/>
        </p:nvSpPr>
        <p:spPr>
          <a:xfrm>
            <a:off x="395158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C224C69-B819-51CC-5E18-4FF3CF93398C}"/>
              </a:ext>
            </a:extLst>
          </p:cNvPr>
          <p:cNvSpPr/>
          <p:nvPr/>
        </p:nvSpPr>
        <p:spPr>
          <a:xfrm>
            <a:off x="809506" y="2637830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3E85F78-FEB3-FAD7-A35A-8FF430EECEAE}"/>
              </a:ext>
            </a:extLst>
          </p:cNvPr>
          <p:cNvSpPr/>
          <p:nvPr/>
        </p:nvSpPr>
        <p:spPr>
          <a:xfrm>
            <a:off x="661475" y="316676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7E3F0C1-360B-5834-CBE4-C955F54FDAFB}"/>
              </a:ext>
            </a:extLst>
          </p:cNvPr>
          <p:cNvSpPr/>
          <p:nvPr/>
        </p:nvSpPr>
        <p:spPr>
          <a:xfrm>
            <a:off x="714605" y="36184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C3FC4AF-7A3B-A6A8-D164-238B313B6AB8}"/>
              </a:ext>
            </a:extLst>
          </p:cNvPr>
          <p:cNvSpPr/>
          <p:nvPr/>
        </p:nvSpPr>
        <p:spPr>
          <a:xfrm>
            <a:off x="1086617" y="3637955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600B3F7-DF35-1945-9433-F9E620C704E8}"/>
              </a:ext>
            </a:extLst>
          </p:cNvPr>
          <p:cNvSpPr/>
          <p:nvPr/>
        </p:nvSpPr>
        <p:spPr>
          <a:xfrm>
            <a:off x="714605" y="414997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308168D-C2AF-9164-D172-D6186A5B4F8E}"/>
              </a:ext>
            </a:extLst>
          </p:cNvPr>
          <p:cNvSpPr/>
          <p:nvPr/>
        </p:nvSpPr>
        <p:spPr>
          <a:xfrm>
            <a:off x="1086617" y="4169470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47DE2AF6-77CA-6262-3BF0-2ED7F5080F51}"/>
              </a:ext>
            </a:extLst>
          </p:cNvPr>
          <p:cNvSpPr/>
          <p:nvPr/>
        </p:nvSpPr>
        <p:spPr>
          <a:xfrm>
            <a:off x="714605" y="468148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91DF81E-0E6F-7DA4-C991-2202EADDF9AC}"/>
              </a:ext>
            </a:extLst>
          </p:cNvPr>
          <p:cNvSpPr/>
          <p:nvPr/>
        </p:nvSpPr>
        <p:spPr>
          <a:xfrm>
            <a:off x="1086617" y="4700984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92DCE83-88CD-E744-CC37-396CCF5B5CAD}"/>
              </a:ext>
            </a:extLst>
          </p:cNvPr>
          <p:cNvSpPr/>
          <p:nvPr/>
        </p:nvSpPr>
        <p:spPr>
          <a:xfrm>
            <a:off x="714605" y="521300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0BC6F55-98AA-A8C5-BA6E-ADBEFAAE0256}"/>
              </a:ext>
            </a:extLst>
          </p:cNvPr>
          <p:cNvSpPr/>
          <p:nvPr/>
        </p:nvSpPr>
        <p:spPr>
          <a:xfrm>
            <a:off x="1086617" y="5232499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655495C-0090-8D65-1F7A-9FCD55EDEF30}"/>
              </a:ext>
            </a:extLst>
          </p:cNvPr>
          <p:cNvSpPr/>
          <p:nvPr/>
        </p:nvSpPr>
        <p:spPr>
          <a:xfrm>
            <a:off x="661475" y="566479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330C01B-552E-0849-6D05-F4D7FEFB0F26}"/>
              </a:ext>
            </a:extLst>
          </p:cNvPr>
          <p:cNvSpPr/>
          <p:nvPr/>
        </p:nvSpPr>
        <p:spPr>
          <a:xfrm>
            <a:off x="661475" y="6089948"/>
            <a:ext cx="7036280" cy="768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E45CF5-9EF0-3D67-801D-716FAE086FB7}"/>
              </a:ext>
            </a:extLst>
          </p:cNvPr>
          <p:cNvSpPr txBox="1"/>
          <p:nvPr/>
        </p:nvSpPr>
        <p:spPr>
          <a:xfrm>
            <a:off x="4292082" y="62048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0EA57E9-ABAA-936D-80C6-5311D61FB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4473597"/>
              </p:ext>
            </p:extLst>
          </p:nvPr>
        </p:nvGraphicFramePr>
        <p:xfrm>
          <a:off x="351434" y="1427063"/>
          <a:ext cx="6633579" cy="4023360"/>
        </p:xfrm>
        <a:graphic>
          <a:graphicData uri="http://schemas.openxmlformats.org/drawingml/2006/table">
            <a:tbl>
              <a:tblPr/>
              <a:tblGrid>
                <a:gridCol w="2211193">
                  <a:extLst>
                    <a:ext uri="{9D8B030D-6E8A-4147-A177-3AD203B41FA5}">
                      <a16:colId xmlns:a16="http://schemas.microsoft.com/office/drawing/2014/main" val="390084626"/>
                    </a:ext>
                  </a:extLst>
                </a:gridCol>
                <a:gridCol w="2211193">
                  <a:extLst>
                    <a:ext uri="{9D8B030D-6E8A-4147-A177-3AD203B41FA5}">
                      <a16:colId xmlns:a16="http://schemas.microsoft.com/office/drawing/2014/main" val="272198175"/>
                    </a:ext>
                  </a:extLst>
                </a:gridCol>
                <a:gridCol w="2211193">
                  <a:extLst>
                    <a:ext uri="{9D8B030D-6E8A-4147-A177-3AD203B41FA5}">
                      <a16:colId xmlns:a16="http://schemas.microsoft.com/office/drawing/2014/main" val="609600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sng" dirty="0"/>
                        <a:t>Research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sng" dirty="0"/>
                        <a:t>Contribution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u="sng" dirty="0"/>
                        <a:t>Limitation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9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Bitcoin: A Peer-to-Peer Electronic Cash System (2008)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Introduced blockchain and decentralized consensus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Focused only on cryptocurrency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818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Decentralizing Privacy using Blockchain (2015)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 user-controlled personal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Did not address document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282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W3C Verifiable Credentials (2019)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Standardized digital credentials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decentralized storage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9406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Hyperledger Fabric Documentation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Enterprise-grade permissioned blockchain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Requires consortium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267353"/>
                  </a:ext>
                </a:extLst>
              </a:tr>
            </a:tbl>
          </a:graphicData>
        </a:graphic>
      </p:graphicFrame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AF04037-0881-0123-ECB2-000CEA42A320}"/>
              </a:ext>
            </a:extLst>
          </p:cNvPr>
          <p:cNvCxnSpPr>
            <a:cxnSpLocks/>
          </p:cNvCxnSpPr>
          <p:nvPr/>
        </p:nvCxnSpPr>
        <p:spPr>
          <a:xfrm>
            <a:off x="2388637" y="1427063"/>
            <a:ext cx="0" cy="4237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B860CCA-541D-1925-99C0-13EAB5CFCB33}"/>
              </a:ext>
            </a:extLst>
          </p:cNvPr>
          <p:cNvCxnSpPr/>
          <p:nvPr/>
        </p:nvCxnSpPr>
        <p:spPr>
          <a:xfrm>
            <a:off x="4683967" y="1427063"/>
            <a:ext cx="0" cy="42377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292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57B41-35C2-DB75-293A-CB3741DA5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156FD6A-4833-78AB-8A4E-3C3F50A77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3761FBC-CDD2-17C3-14BC-8E76E8C87F7F}"/>
              </a:ext>
            </a:extLst>
          </p:cNvPr>
          <p:cNvSpPr/>
          <p:nvPr/>
        </p:nvSpPr>
        <p:spPr>
          <a:xfrm>
            <a:off x="1902963" y="510605"/>
            <a:ext cx="2986278" cy="587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4000" u="sng" dirty="0"/>
              <a:t>Research Gap</a:t>
            </a:r>
            <a:endParaRPr lang="en-US" sz="4000" u="sng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8D3EF1D-AF71-BA1C-3DDA-682CE93DC37C}"/>
              </a:ext>
            </a:extLst>
          </p:cNvPr>
          <p:cNvSpPr/>
          <p:nvPr/>
        </p:nvSpPr>
        <p:spPr>
          <a:xfrm>
            <a:off x="661475" y="1054993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94ED936-F6F2-B00B-0856-01EA6C4D94A1}"/>
              </a:ext>
            </a:extLst>
          </p:cNvPr>
          <p:cNvSpPr/>
          <p:nvPr/>
        </p:nvSpPr>
        <p:spPr>
          <a:xfrm>
            <a:off x="80950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IN" sz="2000" b="1" dirty="0"/>
              <a:t>Existing Systems</a:t>
            </a:r>
          </a:p>
          <a:p>
            <a:pPr lvl="0"/>
            <a:r>
              <a:rPr lang="en-IN" sz="2000" dirty="0"/>
              <a:t>-Depend on centralized storage. </a:t>
            </a:r>
          </a:p>
          <a:p>
            <a:pPr lvl="0"/>
            <a:r>
              <a:rPr lang="en-IN" sz="2000" dirty="0"/>
              <a:t>-Vulnerable to single-point failures. </a:t>
            </a:r>
          </a:p>
          <a:p>
            <a:pPr lvl="0"/>
            <a:r>
              <a:rPr lang="en-IN" sz="2000" dirty="0"/>
              <a:t>-Limited interoperability across organizations. </a:t>
            </a:r>
          </a:p>
          <a:p>
            <a:pPr lvl="0"/>
            <a:r>
              <a:rPr lang="en-IN" sz="2000" dirty="0"/>
              <a:t>-Lack user-controlled access to documents. </a:t>
            </a:r>
          </a:p>
          <a:p>
            <a:pPr lvl="0"/>
            <a:r>
              <a:rPr lang="en-IN" sz="2000" dirty="0"/>
              <a:t>-No immutable audit trail. </a:t>
            </a:r>
          </a:p>
          <a:p>
            <a:pPr lvl="0"/>
            <a:endParaRPr lang="en-IN" sz="1400" dirty="0"/>
          </a:p>
          <a:p>
            <a:pPr lvl="0"/>
            <a:endParaRPr lang="en-IN" sz="1400" dirty="0"/>
          </a:p>
          <a:p>
            <a:pPr lvl="0"/>
            <a:endParaRPr lang="en-IN" sz="1400" dirty="0"/>
          </a:p>
          <a:p>
            <a:r>
              <a:rPr lang="en-IN" sz="2000" b="1" dirty="0"/>
              <a:t>Proposed Solution</a:t>
            </a:r>
          </a:p>
          <a:p>
            <a:pPr lvl="0"/>
            <a:r>
              <a:rPr lang="en-IN" sz="2000" dirty="0"/>
              <a:t>-Decentralized blockchain architecture. </a:t>
            </a:r>
          </a:p>
          <a:p>
            <a:pPr lvl="0"/>
            <a:r>
              <a:rPr lang="en-IN" sz="2000" dirty="0"/>
              <a:t>-User-owned document management. </a:t>
            </a:r>
          </a:p>
          <a:p>
            <a:pPr lvl="0"/>
            <a:r>
              <a:rPr lang="en-IN" sz="2000" dirty="0"/>
              <a:t>-Smart contract-based access control. </a:t>
            </a:r>
          </a:p>
          <a:p>
            <a:pPr lvl="0"/>
            <a:r>
              <a:rPr lang="en-IN" sz="2000" dirty="0"/>
              <a:t>-IPFS for decentralized document storage. </a:t>
            </a:r>
          </a:p>
          <a:p>
            <a:pPr lvl="0"/>
            <a:r>
              <a:rPr lang="en-IN" sz="2000" dirty="0"/>
              <a:t>-Immutable blockchain-based verification and auditing. 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81F6EE-8E1D-14D1-C098-9BFC467F4F14}"/>
              </a:ext>
            </a:extLst>
          </p:cNvPr>
          <p:cNvSpPr/>
          <p:nvPr/>
        </p:nvSpPr>
        <p:spPr>
          <a:xfrm>
            <a:off x="395158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1C436E2-95A1-1FCA-F13C-745D1304679F}"/>
              </a:ext>
            </a:extLst>
          </p:cNvPr>
          <p:cNvSpPr/>
          <p:nvPr/>
        </p:nvSpPr>
        <p:spPr>
          <a:xfrm>
            <a:off x="80950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0347236-8151-861D-A10A-783229EA51A6}"/>
              </a:ext>
            </a:extLst>
          </p:cNvPr>
          <p:cNvSpPr/>
          <p:nvPr/>
        </p:nvSpPr>
        <p:spPr>
          <a:xfrm>
            <a:off x="395158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593E746-3E9F-F2B4-5908-E1A9B35DB9E3}"/>
              </a:ext>
            </a:extLst>
          </p:cNvPr>
          <p:cNvSpPr/>
          <p:nvPr/>
        </p:nvSpPr>
        <p:spPr>
          <a:xfrm>
            <a:off x="809506" y="2637830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BAA752C-1F3A-3D1C-023B-4B08B3C50725}"/>
              </a:ext>
            </a:extLst>
          </p:cNvPr>
          <p:cNvSpPr/>
          <p:nvPr/>
        </p:nvSpPr>
        <p:spPr>
          <a:xfrm>
            <a:off x="661475" y="316676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85E8FC0-2E40-FB2F-E8F2-8DC380A893C7}"/>
              </a:ext>
            </a:extLst>
          </p:cNvPr>
          <p:cNvSpPr/>
          <p:nvPr/>
        </p:nvSpPr>
        <p:spPr>
          <a:xfrm>
            <a:off x="714605" y="36184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8030A06-98F2-7B9C-58D3-85D4B452639F}"/>
              </a:ext>
            </a:extLst>
          </p:cNvPr>
          <p:cNvSpPr/>
          <p:nvPr/>
        </p:nvSpPr>
        <p:spPr>
          <a:xfrm>
            <a:off x="1086617" y="3637955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385E21A-7183-2D6A-D923-955BA96C5B59}"/>
              </a:ext>
            </a:extLst>
          </p:cNvPr>
          <p:cNvSpPr/>
          <p:nvPr/>
        </p:nvSpPr>
        <p:spPr>
          <a:xfrm>
            <a:off x="714605" y="414997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8AC45AFF-00E0-B9AC-ADDF-EB65D5B25386}"/>
              </a:ext>
            </a:extLst>
          </p:cNvPr>
          <p:cNvSpPr/>
          <p:nvPr/>
        </p:nvSpPr>
        <p:spPr>
          <a:xfrm>
            <a:off x="714605" y="468148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7FFB25A-C6A8-12D7-1917-27BF8C0A2EDB}"/>
              </a:ext>
            </a:extLst>
          </p:cNvPr>
          <p:cNvSpPr/>
          <p:nvPr/>
        </p:nvSpPr>
        <p:spPr>
          <a:xfrm>
            <a:off x="1086617" y="4700984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DB1E19F2-60CF-5C3E-3A99-6B8886061835}"/>
              </a:ext>
            </a:extLst>
          </p:cNvPr>
          <p:cNvSpPr/>
          <p:nvPr/>
        </p:nvSpPr>
        <p:spPr>
          <a:xfrm>
            <a:off x="714605" y="521300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8C46CED-FD96-C646-22E1-3E6384739C8E}"/>
              </a:ext>
            </a:extLst>
          </p:cNvPr>
          <p:cNvSpPr/>
          <p:nvPr/>
        </p:nvSpPr>
        <p:spPr>
          <a:xfrm>
            <a:off x="1086617" y="5232499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5BE80403-F057-5228-6A51-6D9DE921C799}"/>
              </a:ext>
            </a:extLst>
          </p:cNvPr>
          <p:cNvSpPr/>
          <p:nvPr/>
        </p:nvSpPr>
        <p:spPr>
          <a:xfrm>
            <a:off x="661475" y="566479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E23B36B-1A82-5C78-2B79-967749BA5EC3}"/>
              </a:ext>
            </a:extLst>
          </p:cNvPr>
          <p:cNvSpPr/>
          <p:nvPr/>
        </p:nvSpPr>
        <p:spPr>
          <a:xfrm>
            <a:off x="661475" y="6089948"/>
            <a:ext cx="7036280" cy="768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6BEF5B-F1F8-F5F4-DB6C-A56DC15A5663}"/>
              </a:ext>
            </a:extLst>
          </p:cNvPr>
          <p:cNvSpPr txBox="1"/>
          <p:nvPr/>
        </p:nvSpPr>
        <p:spPr>
          <a:xfrm>
            <a:off x="4292082" y="62048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04704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7ED13-6B03-EF87-14B0-6D797BC05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4DBF16A-9E3B-B410-49F6-FA8F54B12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C48C90E-D210-3B0A-3300-ADCD0A357A2B}"/>
              </a:ext>
            </a:extLst>
          </p:cNvPr>
          <p:cNvSpPr/>
          <p:nvPr/>
        </p:nvSpPr>
        <p:spPr>
          <a:xfrm>
            <a:off x="2238865" y="495052"/>
            <a:ext cx="2920964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2800" u="sng" dirty="0"/>
              <a:t>Feasibility Analysis</a:t>
            </a:r>
            <a:endParaRPr lang="en-US" sz="2750" u="sng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B55121A-F354-384C-0273-F2B40E7166F8}"/>
              </a:ext>
            </a:extLst>
          </p:cNvPr>
          <p:cNvSpPr/>
          <p:nvPr/>
        </p:nvSpPr>
        <p:spPr>
          <a:xfrm>
            <a:off x="661475" y="1054993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EAA050B-5C00-E0FD-35D4-DD13CDEB53F9}"/>
              </a:ext>
            </a:extLst>
          </p:cNvPr>
          <p:cNvSpPr/>
          <p:nvPr/>
        </p:nvSpPr>
        <p:spPr>
          <a:xfrm>
            <a:off x="661475" y="1320701"/>
            <a:ext cx="6296860" cy="51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IN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149D3E4-BFD0-D755-6EA3-F87149E803A0}"/>
              </a:ext>
            </a:extLst>
          </p:cNvPr>
          <p:cNvSpPr/>
          <p:nvPr/>
        </p:nvSpPr>
        <p:spPr>
          <a:xfrm>
            <a:off x="395158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9F0F6CC-A62A-3401-3135-D070594B4CBE}"/>
              </a:ext>
            </a:extLst>
          </p:cNvPr>
          <p:cNvSpPr/>
          <p:nvPr/>
        </p:nvSpPr>
        <p:spPr>
          <a:xfrm>
            <a:off x="80950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2AC19C8-C6DD-225F-0480-512CC819982C}"/>
              </a:ext>
            </a:extLst>
          </p:cNvPr>
          <p:cNvSpPr/>
          <p:nvPr/>
        </p:nvSpPr>
        <p:spPr>
          <a:xfrm>
            <a:off x="395158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0E67F43-B965-A687-D8E1-B3F41AF3420E}"/>
              </a:ext>
            </a:extLst>
          </p:cNvPr>
          <p:cNvSpPr/>
          <p:nvPr/>
        </p:nvSpPr>
        <p:spPr>
          <a:xfrm>
            <a:off x="809506" y="2637830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0874EFC-0942-9B91-A19E-276486F4B115}"/>
              </a:ext>
            </a:extLst>
          </p:cNvPr>
          <p:cNvSpPr/>
          <p:nvPr/>
        </p:nvSpPr>
        <p:spPr>
          <a:xfrm>
            <a:off x="661475" y="316676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D0E4946E-6256-5D93-C4F5-F476A6169756}"/>
              </a:ext>
            </a:extLst>
          </p:cNvPr>
          <p:cNvSpPr/>
          <p:nvPr/>
        </p:nvSpPr>
        <p:spPr>
          <a:xfrm>
            <a:off x="714605" y="36184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CC88CB1-4D1F-5CA4-62B0-116AE3260642}"/>
              </a:ext>
            </a:extLst>
          </p:cNvPr>
          <p:cNvSpPr/>
          <p:nvPr/>
        </p:nvSpPr>
        <p:spPr>
          <a:xfrm>
            <a:off x="1086617" y="3637955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3065AFCA-4D15-9514-D988-2194ED661327}"/>
              </a:ext>
            </a:extLst>
          </p:cNvPr>
          <p:cNvSpPr/>
          <p:nvPr/>
        </p:nvSpPr>
        <p:spPr>
          <a:xfrm>
            <a:off x="714605" y="414997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48E5A5BB-B4E7-B832-DB85-B75AEDC11C18}"/>
              </a:ext>
            </a:extLst>
          </p:cNvPr>
          <p:cNvSpPr/>
          <p:nvPr/>
        </p:nvSpPr>
        <p:spPr>
          <a:xfrm>
            <a:off x="714605" y="468148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F30AF92-5420-9031-DB48-0B5AD97C2649}"/>
              </a:ext>
            </a:extLst>
          </p:cNvPr>
          <p:cNvSpPr/>
          <p:nvPr/>
        </p:nvSpPr>
        <p:spPr>
          <a:xfrm>
            <a:off x="1086617" y="4700984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A7406264-D146-D286-2174-4A51A6659F46}"/>
              </a:ext>
            </a:extLst>
          </p:cNvPr>
          <p:cNvSpPr/>
          <p:nvPr/>
        </p:nvSpPr>
        <p:spPr>
          <a:xfrm>
            <a:off x="714605" y="521300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2AB5E4B3-5FF5-036A-1E4F-698953E92D4B}"/>
              </a:ext>
            </a:extLst>
          </p:cNvPr>
          <p:cNvSpPr/>
          <p:nvPr/>
        </p:nvSpPr>
        <p:spPr>
          <a:xfrm>
            <a:off x="1086617" y="5232499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70541FE4-62EC-2B3F-959C-A2990C2497F3}"/>
              </a:ext>
            </a:extLst>
          </p:cNvPr>
          <p:cNvSpPr/>
          <p:nvPr/>
        </p:nvSpPr>
        <p:spPr>
          <a:xfrm>
            <a:off x="661475" y="566479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E230FC35-3E34-AADC-840C-4B30218A20E9}"/>
              </a:ext>
            </a:extLst>
          </p:cNvPr>
          <p:cNvSpPr/>
          <p:nvPr/>
        </p:nvSpPr>
        <p:spPr>
          <a:xfrm>
            <a:off x="661475" y="6089948"/>
            <a:ext cx="7036280" cy="768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D0A381-98C8-F05B-428D-CF730CA7ED35}"/>
              </a:ext>
            </a:extLst>
          </p:cNvPr>
          <p:cNvSpPr txBox="1"/>
          <p:nvPr/>
        </p:nvSpPr>
        <p:spPr>
          <a:xfrm>
            <a:off x="4292082" y="62048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34DE0-C7FF-41AC-F1BC-5E7A33BF6FF1}"/>
              </a:ext>
            </a:extLst>
          </p:cNvPr>
          <p:cNvSpPr txBox="1"/>
          <p:nvPr/>
        </p:nvSpPr>
        <p:spPr>
          <a:xfrm>
            <a:off x="425143" y="1046821"/>
            <a:ext cx="60975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-Technical Feasibility</a:t>
            </a:r>
          </a:p>
          <a:p>
            <a:pPr>
              <a:buNone/>
            </a:pPr>
            <a:r>
              <a:rPr lang="en-IN" dirty="0"/>
              <a:t>Uses mature technologies such as Ethereum/Hyperledger Fabric, IPFS, React.js, Node.js, and Solidity, making implementation technically feasible.</a:t>
            </a:r>
          </a:p>
          <a:p>
            <a:pPr>
              <a:buNone/>
            </a:pPr>
            <a:r>
              <a:rPr lang="en-IN" b="1" dirty="0"/>
              <a:t>-Economic Feasibility</a:t>
            </a:r>
          </a:p>
          <a:p>
            <a:pPr>
              <a:buNone/>
            </a:pPr>
            <a:r>
              <a:rPr lang="en-IN" dirty="0"/>
              <a:t>Open-source blockchain frameworks and IPFS significantly reduce software and infrastructure costs.</a:t>
            </a:r>
          </a:p>
          <a:p>
            <a:pPr>
              <a:buNone/>
            </a:pPr>
            <a:r>
              <a:rPr lang="en-IN" b="1" dirty="0"/>
              <a:t>-Operational Feasibility</a:t>
            </a:r>
          </a:p>
          <a:p>
            <a:pPr>
              <a:buNone/>
            </a:pPr>
            <a:r>
              <a:rPr lang="en-IN" dirty="0"/>
              <a:t>The system provides an easy-to-use interface for citizens, institutions, and organizations with minimal changes to existing workflows.</a:t>
            </a:r>
          </a:p>
          <a:p>
            <a:pPr>
              <a:buNone/>
            </a:pPr>
            <a:r>
              <a:rPr lang="en-IN" b="1" dirty="0"/>
              <a:t>-Legal Feasibility</a:t>
            </a:r>
          </a:p>
          <a:p>
            <a:pPr>
              <a:buNone/>
            </a:pPr>
            <a:r>
              <a:rPr lang="en-IN" dirty="0"/>
              <a:t>Digital signatures and electronic records are supported under the Information Technology Act, 2000, enabling future legal adoption.</a:t>
            </a:r>
          </a:p>
          <a:p>
            <a:pPr>
              <a:buNone/>
            </a:pPr>
            <a:r>
              <a:rPr lang="en-IN" b="1" dirty="0"/>
              <a:t>-Schedule Feasibility</a:t>
            </a:r>
          </a:p>
          <a:p>
            <a:pPr>
              <a:buNone/>
            </a:pPr>
            <a:r>
              <a:rPr lang="en-IN" dirty="0"/>
              <a:t>The project can be successfully completed within a semester following a phased development approach.</a:t>
            </a:r>
          </a:p>
        </p:txBody>
      </p:sp>
    </p:spTree>
    <p:extLst>
      <p:ext uri="{BB962C8B-B14F-4D97-AF65-F5344CB8AC3E}">
        <p14:creationId xmlns:p14="http://schemas.microsoft.com/office/powerpoint/2010/main" val="1254469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10ED-4236-8B99-FAE2-EAC1C56E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F3565B7F-6B00-7E7A-A0E5-C96DA59C1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B44EB732-5FE0-BE9F-FFD6-97EA4B422CC1}"/>
              </a:ext>
            </a:extLst>
          </p:cNvPr>
          <p:cNvSpPr/>
          <p:nvPr/>
        </p:nvSpPr>
        <p:spPr>
          <a:xfrm>
            <a:off x="2238865" y="495052"/>
            <a:ext cx="2920964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3700" u="sng" dirty="0"/>
              <a:t>References</a:t>
            </a:r>
            <a:endParaRPr lang="en-US" sz="3700" u="sng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BA5D3D1-3C47-506D-8CE2-078E9C98537D}"/>
              </a:ext>
            </a:extLst>
          </p:cNvPr>
          <p:cNvSpPr/>
          <p:nvPr/>
        </p:nvSpPr>
        <p:spPr>
          <a:xfrm>
            <a:off x="661475" y="1054993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E74303D-F67D-EF59-089C-8D1706713DEE}"/>
              </a:ext>
            </a:extLst>
          </p:cNvPr>
          <p:cNvSpPr/>
          <p:nvPr/>
        </p:nvSpPr>
        <p:spPr>
          <a:xfrm>
            <a:off x="661475" y="1320701"/>
            <a:ext cx="6296860" cy="512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endParaRPr lang="en-IN" sz="20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888D222-AA49-F894-C57B-0CAB51B06B23}"/>
              </a:ext>
            </a:extLst>
          </p:cNvPr>
          <p:cNvSpPr/>
          <p:nvPr/>
        </p:nvSpPr>
        <p:spPr>
          <a:xfrm>
            <a:off x="395158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BDED9A66-6FDA-CE2C-AA3B-951D4D3023B6}"/>
              </a:ext>
            </a:extLst>
          </p:cNvPr>
          <p:cNvSpPr/>
          <p:nvPr/>
        </p:nvSpPr>
        <p:spPr>
          <a:xfrm>
            <a:off x="80950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DCC70DC-866B-F2BC-6CD7-0D9FEBFB17DE}"/>
              </a:ext>
            </a:extLst>
          </p:cNvPr>
          <p:cNvSpPr/>
          <p:nvPr/>
        </p:nvSpPr>
        <p:spPr>
          <a:xfrm>
            <a:off x="395158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7FE6DC8C-9EF7-D9D2-5C08-3BA6E1A83C8A}"/>
              </a:ext>
            </a:extLst>
          </p:cNvPr>
          <p:cNvSpPr/>
          <p:nvPr/>
        </p:nvSpPr>
        <p:spPr>
          <a:xfrm>
            <a:off x="809506" y="2637830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A7639C7-674A-DC74-9305-D739BD75F1FA}"/>
              </a:ext>
            </a:extLst>
          </p:cNvPr>
          <p:cNvSpPr/>
          <p:nvPr/>
        </p:nvSpPr>
        <p:spPr>
          <a:xfrm>
            <a:off x="661475" y="316676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F01E679-CFB2-B938-4A78-E81DFD968044}"/>
              </a:ext>
            </a:extLst>
          </p:cNvPr>
          <p:cNvSpPr/>
          <p:nvPr/>
        </p:nvSpPr>
        <p:spPr>
          <a:xfrm>
            <a:off x="714605" y="36184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B37F608-EB36-B17D-D060-8EB98051AE44}"/>
              </a:ext>
            </a:extLst>
          </p:cNvPr>
          <p:cNvSpPr/>
          <p:nvPr/>
        </p:nvSpPr>
        <p:spPr>
          <a:xfrm>
            <a:off x="1086617" y="3637955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8DAB61B4-579E-2BCB-3A30-55463FD394F9}"/>
              </a:ext>
            </a:extLst>
          </p:cNvPr>
          <p:cNvSpPr/>
          <p:nvPr/>
        </p:nvSpPr>
        <p:spPr>
          <a:xfrm>
            <a:off x="714605" y="414997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AD1916F1-3800-6AD4-2218-3FA212F85EE0}"/>
              </a:ext>
            </a:extLst>
          </p:cNvPr>
          <p:cNvSpPr/>
          <p:nvPr/>
        </p:nvSpPr>
        <p:spPr>
          <a:xfrm>
            <a:off x="714605" y="468148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32108D1D-1081-EC8C-8CC3-D58CBD846ED0}"/>
              </a:ext>
            </a:extLst>
          </p:cNvPr>
          <p:cNvSpPr/>
          <p:nvPr/>
        </p:nvSpPr>
        <p:spPr>
          <a:xfrm>
            <a:off x="1086617" y="4700984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2B79207-626E-38DF-C26B-BBDD28DFC8C6}"/>
              </a:ext>
            </a:extLst>
          </p:cNvPr>
          <p:cNvSpPr/>
          <p:nvPr/>
        </p:nvSpPr>
        <p:spPr>
          <a:xfrm>
            <a:off x="714605" y="521300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endParaRPr lang="en-US" sz="16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2B3CC6F-C235-3771-524A-DE9FEDDAAF0C}"/>
              </a:ext>
            </a:extLst>
          </p:cNvPr>
          <p:cNvSpPr/>
          <p:nvPr/>
        </p:nvSpPr>
        <p:spPr>
          <a:xfrm>
            <a:off x="1086617" y="5232499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4E38CDFA-15FA-E8A6-1095-6B25C3F79B1C}"/>
              </a:ext>
            </a:extLst>
          </p:cNvPr>
          <p:cNvSpPr/>
          <p:nvPr/>
        </p:nvSpPr>
        <p:spPr>
          <a:xfrm>
            <a:off x="661475" y="566479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B34A7888-53F4-AFA7-24DB-1AF7EEC5BE4F}"/>
              </a:ext>
            </a:extLst>
          </p:cNvPr>
          <p:cNvSpPr/>
          <p:nvPr/>
        </p:nvSpPr>
        <p:spPr>
          <a:xfrm>
            <a:off x="661475" y="6089948"/>
            <a:ext cx="7036280" cy="768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AC93FF-A664-D2A5-5ADE-6DCC822B7F19}"/>
              </a:ext>
            </a:extLst>
          </p:cNvPr>
          <p:cNvSpPr txBox="1"/>
          <p:nvPr/>
        </p:nvSpPr>
        <p:spPr>
          <a:xfrm>
            <a:off x="4292082" y="62048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7368E-564D-637D-4CF9-C6AF4ADED5AD}"/>
              </a:ext>
            </a:extLst>
          </p:cNvPr>
          <p:cNvSpPr txBox="1"/>
          <p:nvPr/>
        </p:nvSpPr>
        <p:spPr>
          <a:xfrm>
            <a:off x="425142" y="1046820"/>
            <a:ext cx="62968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IN" dirty="0"/>
          </a:p>
          <a:p>
            <a:pPr lvl="0"/>
            <a:r>
              <a:rPr lang="en-IN" dirty="0"/>
              <a:t>1. Satoshi Nakamoto, </a:t>
            </a:r>
            <a:r>
              <a:rPr lang="en-IN" i="1" dirty="0"/>
              <a:t>Bitcoin: A Peer-to-Peer Electronic Cash System</a:t>
            </a:r>
            <a:r>
              <a:rPr lang="en-IN" dirty="0"/>
              <a:t>, 2008. </a:t>
            </a:r>
          </a:p>
          <a:p>
            <a:pPr marL="342900" lvl="0" indent="-342900">
              <a:buAutoNum type="arabicPeriod"/>
            </a:pPr>
            <a:endParaRPr lang="en-IN" dirty="0"/>
          </a:p>
          <a:p>
            <a:pPr lvl="0"/>
            <a:r>
              <a:rPr lang="en-IN" dirty="0"/>
              <a:t>2. Government of India, </a:t>
            </a:r>
            <a:r>
              <a:rPr lang="en-IN" dirty="0" err="1"/>
              <a:t>DigiLocker</a:t>
            </a:r>
            <a:r>
              <a:rPr lang="en-IN" dirty="0"/>
              <a:t> Official Documentation.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3. Ethereum Foundation, Ethereum Documentation.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4. Hyperledger Foundation, Hyperledger Fabric Documentation.</a:t>
            </a:r>
          </a:p>
          <a:p>
            <a:pPr lvl="0"/>
            <a:r>
              <a:rPr lang="en-IN" dirty="0"/>
              <a:t> </a:t>
            </a:r>
          </a:p>
          <a:p>
            <a:pPr lvl="0"/>
            <a:r>
              <a:rPr lang="en-IN" dirty="0"/>
              <a:t>5. IPFS Documentation – Protocol Labs.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6. W3C, Verifiable Credentials Data Model 1.1. </a:t>
            </a:r>
          </a:p>
          <a:p>
            <a:pPr lvl="0"/>
            <a:endParaRPr lang="en-IN" dirty="0"/>
          </a:p>
          <a:p>
            <a:pPr lvl="0"/>
            <a:r>
              <a:rPr lang="en-IN" dirty="0"/>
              <a:t>7. </a:t>
            </a:r>
            <a:r>
              <a:rPr lang="en-IN" dirty="0" err="1"/>
              <a:t>Zyskind</a:t>
            </a:r>
            <a:r>
              <a:rPr lang="en-IN" dirty="0"/>
              <a:t>, Nathan &amp; Pentland, Alex. </a:t>
            </a:r>
            <a:r>
              <a:rPr lang="en-IN" i="1" dirty="0"/>
              <a:t>Decentralizing Privacy: Using Blockchain to Protect Personal Data</a:t>
            </a:r>
            <a:r>
              <a:rPr lang="en-IN" dirty="0"/>
              <a:t>, 2015.</a:t>
            </a:r>
          </a:p>
        </p:txBody>
      </p:sp>
    </p:spTree>
    <p:extLst>
      <p:ext uri="{BB962C8B-B14F-4D97-AF65-F5344CB8AC3E}">
        <p14:creationId xmlns:p14="http://schemas.microsoft.com/office/powerpoint/2010/main" val="3861263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9690E-F537-978E-867F-DC215FFF2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453DA83-53B0-0930-5B6D-C650DDE07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6A0CEA6-33DF-C5AD-AC27-61F9988384F8}"/>
              </a:ext>
            </a:extLst>
          </p:cNvPr>
          <p:cNvSpPr/>
          <p:nvPr/>
        </p:nvSpPr>
        <p:spPr>
          <a:xfrm>
            <a:off x="661475" y="569516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&amp; Call to Action</a:t>
            </a:r>
            <a:endParaRPr lang="en-US" sz="27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40E6BF2-47D2-5493-892C-175FE382682F}"/>
              </a:ext>
            </a:extLst>
          </p:cNvPr>
          <p:cNvSpPr/>
          <p:nvPr/>
        </p:nvSpPr>
        <p:spPr>
          <a:xfrm>
            <a:off x="661475" y="1054993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Blockchain-Based Digital Document Locker?</a:t>
            </a:r>
            <a:endParaRPr lang="en-US" sz="165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E3B0777-023D-48FC-6DF2-06842B6A7ED7}"/>
              </a:ext>
            </a:extLst>
          </p:cNvPr>
          <p:cNvSpPr/>
          <p:nvPr/>
        </p:nvSpPr>
        <p:spPr>
          <a:xfrm>
            <a:off x="661475" y="1480145"/>
            <a:ext cx="6296860" cy="1527175"/>
          </a:xfrm>
          <a:prstGeom prst="roundRect">
            <a:avLst>
              <a:gd name="adj" fmla="val 38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0FC7913-324E-3BDA-D6AD-3CA2C31E5BC3}"/>
              </a:ext>
            </a:extLst>
          </p:cNvPr>
          <p:cNvSpPr/>
          <p:nvPr/>
        </p:nvSpPr>
        <p:spPr>
          <a:xfrm>
            <a:off x="667825" y="1486495"/>
            <a:ext cx="3142080" cy="504825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34E9A5E-ECA8-C321-5011-4B7A76FA0F0F}"/>
              </a:ext>
            </a:extLst>
          </p:cNvPr>
          <p:cNvSpPr/>
          <p:nvPr/>
        </p:nvSpPr>
        <p:spPr>
          <a:xfrm>
            <a:off x="80950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Fixes DigiLocker gaps</a:t>
            </a:r>
            <a:endParaRPr lang="en-US" sz="13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08D911F5-8420-74AA-BDC9-F88CB2956AF5}"/>
              </a:ext>
            </a:extLst>
          </p:cNvPr>
          <p:cNvSpPr/>
          <p:nvPr/>
        </p:nvSpPr>
        <p:spPr>
          <a:xfrm>
            <a:off x="3809905" y="1486495"/>
            <a:ext cx="3142080" cy="504825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613E2227-27A0-D7CF-3457-66B40FC70E31}"/>
              </a:ext>
            </a:extLst>
          </p:cNvPr>
          <p:cNvSpPr/>
          <p:nvPr/>
        </p:nvSpPr>
        <p:spPr>
          <a:xfrm>
            <a:off x="3809905" y="1486495"/>
            <a:ext cx="19050" cy="504825"/>
          </a:xfrm>
          <a:prstGeom prst="roundRect">
            <a:avLst>
              <a:gd name="adj" fmla="val 31255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46E81CC-1419-CCC4-1232-F26E1F995549}"/>
              </a:ext>
            </a:extLst>
          </p:cNvPr>
          <p:cNvSpPr/>
          <p:nvPr/>
        </p:nvSpPr>
        <p:spPr>
          <a:xfrm>
            <a:off x="3951586" y="1628180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User-owned and controlled</a:t>
            </a:r>
            <a:endParaRPr lang="en-US" sz="13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CA3C39C-AFD7-4EA3-1609-FF797AE5AC69}"/>
              </a:ext>
            </a:extLst>
          </p:cNvPr>
          <p:cNvSpPr/>
          <p:nvPr/>
        </p:nvSpPr>
        <p:spPr>
          <a:xfrm>
            <a:off x="667825" y="1991320"/>
            <a:ext cx="3142080" cy="504825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2628FB3-D696-8DCF-3185-23A1EA5E5A2B}"/>
              </a:ext>
            </a:extLst>
          </p:cNvPr>
          <p:cNvSpPr/>
          <p:nvPr/>
        </p:nvSpPr>
        <p:spPr>
          <a:xfrm>
            <a:off x="667825" y="1991320"/>
            <a:ext cx="3142080" cy="19050"/>
          </a:xfrm>
          <a:prstGeom prst="roundRect">
            <a:avLst>
              <a:gd name="adj" fmla="val 31255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CC41873-720A-22BF-A22A-2F0E816457B7}"/>
              </a:ext>
            </a:extLst>
          </p:cNvPr>
          <p:cNvSpPr/>
          <p:nvPr/>
        </p:nvSpPr>
        <p:spPr>
          <a:xfrm>
            <a:off x="80950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Proof of authenticity</a:t>
            </a:r>
            <a:endParaRPr lang="en-US" sz="135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3775269-C1F3-A247-0E55-41C9CA02DD34}"/>
              </a:ext>
            </a:extLst>
          </p:cNvPr>
          <p:cNvSpPr/>
          <p:nvPr/>
        </p:nvSpPr>
        <p:spPr>
          <a:xfrm>
            <a:off x="3809905" y="1991320"/>
            <a:ext cx="3142080" cy="504825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24953D6-4580-A7D6-58D7-CF7FE245CDC4}"/>
              </a:ext>
            </a:extLst>
          </p:cNvPr>
          <p:cNvSpPr/>
          <p:nvPr/>
        </p:nvSpPr>
        <p:spPr>
          <a:xfrm>
            <a:off x="3809905" y="1991320"/>
            <a:ext cx="19050" cy="504825"/>
          </a:xfrm>
          <a:prstGeom prst="roundRect">
            <a:avLst>
              <a:gd name="adj" fmla="val 31255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E0106DC-25E6-986F-64BC-4BE74209F969}"/>
              </a:ext>
            </a:extLst>
          </p:cNvPr>
          <p:cNvSpPr/>
          <p:nvPr/>
        </p:nvSpPr>
        <p:spPr>
          <a:xfrm>
            <a:off x="3809905" y="1991320"/>
            <a:ext cx="3142080" cy="19050"/>
          </a:xfrm>
          <a:prstGeom prst="roundRect">
            <a:avLst>
              <a:gd name="adj" fmla="val 31255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0A8B5DD-14F9-4D58-D883-8315A71BCC50}"/>
              </a:ext>
            </a:extLst>
          </p:cNvPr>
          <p:cNvSpPr/>
          <p:nvPr/>
        </p:nvSpPr>
        <p:spPr>
          <a:xfrm>
            <a:off x="3951586" y="2133005"/>
            <a:ext cx="28587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verification</a:t>
            </a:r>
            <a:endParaRPr lang="en-US" sz="13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BA7BD3FC-283D-8AFD-790E-FC4A07E6C636}"/>
              </a:ext>
            </a:extLst>
          </p:cNvPr>
          <p:cNvSpPr/>
          <p:nvPr/>
        </p:nvSpPr>
        <p:spPr>
          <a:xfrm>
            <a:off x="667825" y="2496145"/>
            <a:ext cx="6284160" cy="504825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9519D52-240E-4A6A-899D-AC95360A856D}"/>
              </a:ext>
            </a:extLst>
          </p:cNvPr>
          <p:cNvSpPr/>
          <p:nvPr/>
        </p:nvSpPr>
        <p:spPr>
          <a:xfrm>
            <a:off x="667825" y="2496145"/>
            <a:ext cx="6284160" cy="19050"/>
          </a:xfrm>
          <a:prstGeom prst="roundRect">
            <a:avLst>
              <a:gd name="adj" fmla="val 312550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CFEE0FE-D206-0B28-05D0-B6BA5D1DE7E6}"/>
              </a:ext>
            </a:extLst>
          </p:cNvPr>
          <p:cNvSpPr/>
          <p:nvPr/>
        </p:nvSpPr>
        <p:spPr>
          <a:xfrm>
            <a:off x="809506" y="2637830"/>
            <a:ext cx="60007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Stronger security and privacy</a:t>
            </a:r>
            <a:endParaRPr lang="en-US" sz="135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77CCF0C3-6098-A58E-5D5D-AF3274710E3E}"/>
              </a:ext>
            </a:extLst>
          </p:cNvPr>
          <p:cNvSpPr/>
          <p:nvPr/>
        </p:nvSpPr>
        <p:spPr>
          <a:xfrm>
            <a:off x="661475" y="316676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Takeaways:</a:t>
            </a:r>
            <a:endParaRPr lang="en-US" sz="16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E6731A19-FF66-5E9F-9F6E-C10B85363757}"/>
              </a:ext>
            </a:extLst>
          </p:cNvPr>
          <p:cNvSpPr/>
          <p:nvPr/>
        </p:nvSpPr>
        <p:spPr>
          <a:xfrm>
            <a:off x="661475" y="359191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C4FE618-96FB-6BCF-004D-F6B412AA2CE0}"/>
              </a:ext>
            </a:extLst>
          </p:cNvPr>
          <p:cNvSpPr/>
          <p:nvPr/>
        </p:nvSpPr>
        <p:spPr>
          <a:xfrm>
            <a:off x="714605" y="361845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47BB5AD5-C5E9-904B-25CA-86D135E6B963}"/>
              </a:ext>
            </a:extLst>
          </p:cNvPr>
          <p:cNvSpPr/>
          <p:nvPr/>
        </p:nvSpPr>
        <p:spPr>
          <a:xfrm>
            <a:off x="1086617" y="3637955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DigiLocker has security and privacy gaps. Blockchain closes them.</a:t>
            </a:r>
            <a:endParaRPr lang="en-US" sz="1100" dirty="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669C8186-1891-50BB-D16E-72CB1EE4D56D}"/>
              </a:ext>
            </a:extLst>
          </p:cNvPr>
          <p:cNvSpPr/>
          <p:nvPr/>
        </p:nvSpPr>
        <p:spPr>
          <a:xfrm>
            <a:off x="661475" y="4123432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C7C489C-DC85-D45E-8A53-DDD8B7CC066C}"/>
              </a:ext>
            </a:extLst>
          </p:cNvPr>
          <p:cNvSpPr/>
          <p:nvPr/>
        </p:nvSpPr>
        <p:spPr>
          <a:xfrm>
            <a:off x="714605" y="414997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BD7D253-F828-8014-5100-06A6C7C281FA}"/>
              </a:ext>
            </a:extLst>
          </p:cNvPr>
          <p:cNvSpPr/>
          <p:nvPr/>
        </p:nvSpPr>
        <p:spPr>
          <a:xfrm>
            <a:off x="1086617" y="4169470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Blockchain makes records tamper-proof and trustworthy.</a:t>
            </a:r>
            <a:endParaRPr lang="en-US" sz="110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D546FDE2-FED8-3984-9062-DADFE67F5065}"/>
              </a:ext>
            </a:extLst>
          </p:cNvPr>
          <p:cNvSpPr/>
          <p:nvPr/>
        </p:nvSpPr>
        <p:spPr>
          <a:xfrm>
            <a:off x="661475" y="4654947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7686FAB-974B-B65C-C14C-38AE77F1DC15}"/>
              </a:ext>
            </a:extLst>
          </p:cNvPr>
          <p:cNvSpPr/>
          <p:nvPr/>
        </p:nvSpPr>
        <p:spPr>
          <a:xfrm>
            <a:off x="714605" y="4681488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67338756-ECF0-D7F2-3800-8EF7CEBDAFC1}"/>
              </a:ext>
            </a:extLst>
          </p:cNvPr>
          <p:cNvSpPr/>
          <p:nvPr/>
        </p:nvSpPr>
        <p:spPr>
          <a:xfrm>
            <a:off x="1086617" y="4700984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combine trust, control, and speed in one system.</a:t>
            </a:r>
            <a:endParaRPr lang="en-US" sz="1100" dirty="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DD8DF6BA-B629-8A01-6EAB-FEAA2DA8AB74}"/>
              </a:ext>
            </a:extLst>
          </p:cNvPr>
          <p:cNvSpPr/>
          <p:nvPr/>
        </p:nvSpPr>
        <p:spPr>
          <a:xfrm>
            <a:off x="661475" y="5186462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6A2B234-ED64-380C-29BC-72DE1258FDF1}"/>
              </a:ext>
            </a:extLst>
          </p:cNvPr>
          <p:cNvSpPr/>
          <p:nvPr/>
        </p:nvSpPr>
        <p:spPr>
          <a:xfrm>
            <a:off x="714605" y="521300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65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A9DAEF35-C7D6-4DFB-63F5-11F5B15FCE9E}"/>
              </a:ext>
            </a:extLst>
          </p:cNvPr>
          <p:cNvSpPr/>
          <p:nvPr/>
        </p:nvSpPr>
        <p:spPr>
          <a:xfrm>
            <a:off x="1086617" y="5232499"/>
            <a:ext cx="587171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Users get full control with instant verification.</a:t>
            </a:r>
            <a:endParaRPr lang="en-US" sz="110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AAA0D612-DB17-B8C1-E754-95498CD519CA}"/>
              </a:ext>
            </a:extLst>
          </p:cNvPr>
          <p:cNvSpPr/>
          <p:nvPr/>
        </p:nvSpPr>
        <p:spPr>
          <a:xfrm>
            <a:off x="661475" y="5664795"/>
            <a:ext cx="629686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Call to Action:</a:t>
            </a:r>
            <a:endParaRPr lang="en-US" sz="16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A2FAEC7D-905C-2366-A137-A16977E87FAF}"/>
              </a:ext>
            </a:extLst>
          </p:cNvPr>
          <p:cNvSpPr/>
          <p:nvPr/>
        </p:nvSpPr>
        <p:spPr>
          <a:xfrm>
            <a:off x="661475" y="6089948"/>
            <a:ext cx="7036280" cy="768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 build secure, decentralized document </a:t>
            </a:r>
            <a:r>
              <a:rPr lang="en-US" sz="110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storage.</a:t>
            </a: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b="1" dirty="0">
              <a:solidFill>
                <a:srgbClr val="272525"/>
              </a:solidFill>
              <a:latin typeface="Inter Bold" pitchFamily="34" charset="0"/>
              <a:ea typeface="Inter Bold" pitchFamily="34" charset="-122"/>
            </a:endParaRPr>
          </a:p>
          <a:p>
            <a:pPr marL="0" indent="0" algn="l">
              <a:lnSpc>
                <a:spcPct val="117000"/>
              </a:lnSpc>
              <a:buNone/>
            </a:pPr>
            <a:endParaRPr 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33DD23-94D7-8E15-64F5-1680EECC7096}"/>
              </a:ext>
            </a:extLst>
          </p:cNvPr>
          <p:cNvSpPr txBox="1"/>
          <p:nvPr/>
        </p:nvSpPr>
        <p:spPr>
          <a:xfrm>
            <a:off x="4292082" y="620485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569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1250</Words>
  <Application>Microsoft Office PowerPoint</Application>
  <PresentationFormat>Widescreen</PresentationFormat>
  <Paragraphs>429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2026-07-31T15:53:45Z</dcterms:created>
  <dcterms:modified xsi:type="dcterms:W3CDTF">2026-07-31T16:21:15Z</dcterms:modified>
</cp:coreProperties>
</file>